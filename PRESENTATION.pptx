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Этажей в главе</c:v>
                </c:pt>
              </c:strCache>
            </c:strRef>
          </c:tx>
          <c:spPr>
            <a:solidFill>
              <a:srgbClr val="8A6A47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8A6A47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A67C50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C4945F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E25822"/>
              </a:solidFill>
              <a:ln w="0">
                <a:noFill/>
              </a:ln>
            </c:spPr>
          </c:dPt>
          <c:dLbls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sz="1600" b="1" u="none" strike="noStrike">
                      <a:solidFill>
                        <a:srgbClr val="F2E8D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sz="1600" b="1" u="none" strike="noStrike">
                      <a:solidFill>
                        <a:srgbClr val="F2E8D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sz="1600" b="1" u="none" strike="noStrike">
                      <a:solidFill>
                        <a:srgbClr val="F2E8D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sz="1600" b="1" u="none" strike="noStrike">
                      <a:solidFill>
                        <a:srgbClr val="F2E8DC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" sourceLinked="0"/>
            <c:txPr>
              <a:bodyPr wrap="square"/>
              <a:lstStyle/>
              <a:p>
                <a:pPr>
                  <a:defRPr sz="1600" b="1" u="none" strike="noStrike">
                    <a:solidFill>
                      <a:srgbClr val="F2E8DC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Глава 1 «Разведка»</c:v>
                </c:pt>
                <c:pt idx="1">
                  <c:v>Глава 2 «Поиски»</c:v>
                </c:pt>
                <c:pt idx="2">
                  <c:v>Глава 3 «Опасности»</c:v>
                </c:pt>
                <c:pt idx="3">
                  <c:v>Глава 4 «Финал»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gapWidth val="45"/>
        <c:overlap val="0"/>
        <c:axId val="10764796"/>
        <c:axId val="91645980"/>
      </c:barChart>
      <c:catAx>
        <c:axId val="107647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4A3B2E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F2E8DC"/>
                </a:solidFill>
                <a:uFillTx/>
                <a:latin typeface="Arial"/>
              </a:defRPr>
            </a:pPr>
          </a:p>
        </c:txPr>
        <c:crossAx val="91645980"/>
        <c:crosses val="autoZero"/>
        <c:auto val="1"/>
        <c:lblAlgn val="ctr"/>
        <c:lblOffset val="100"/>
        <c:noMultiLvlLbl val="0"/>
      </c:catAx>
      <c:valAx>
        <c:axId val="91645980"/>
        <c:scaling>
          <c:orientation val="minMax"/>
          <c:max val="4.6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10764796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2A211A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01F0432-0737-4CF3-940C-CB3ADA1D534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Открытие: показываем арт заставки и логотип игры. Один тезис — кооп-рогалик, который открывается в браузере за секунды.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9DD043-50C8-4B94-8239-68122F21D3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A1FDE0-4D4D-44E4-8092-79E58E7100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5074BC-5CF1-4C5D-968B-F772E26F94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130F15-43CC-49B4-8BA7-45651BA3A1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6D5B06-D00D-4AA4-B603-6ED81A76B8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C5D014-D97D-4A44-BE11-C25B2205A3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4FF8EA-18D8-4660-85D2-E60FF05AF7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4FBBF4-D4B3-4B75-8648-41186C327B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B3119A-ED0F-4088-AF24-34D9E587B6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E6C6F9-442C-40D8-8D26-BA5606249A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1AD4FB-1518-4FAE-A28F-6AED255B36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40E0A">
              <a:alpha val="6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0" descr="D:/ZCode/project2/example/build/images/UI/logoRus.png"/>
          <p:cNvPicPr/>
          <p:nvPr/>
        </p:nvPicPr>
        <p:blipFill>
          <a:blip r:embed="rId2"/>
          <a:stretch/>
        </p:blipFill>
        <p:spPr>
          <a:xfrm>
            <a:off x="3259800" y="1417320"/>
            <a:ext cx="5668920" cy="14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1"/>
          <p:cNvSpPr/>
          <p:nvPr/>
        </p:nvSpPr>
        <p:spPr>
          <a:xfrm>
            <a:off x="1371600" y="3611880"/>
            <a:ext cx="944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0" i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Найди. Стань сильнее. Пройди дальше.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1371600" y="4343400"/>
            <a:ext cx="944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Кооперативный рогалик-подземелье  ·  1–2 игрока на одном экране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1371600" y="6172200"/>
            <a:ext cx="9445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Билд 2.17  ·   2026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11365920" y="63824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502920" y="38412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300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КОНЦЕПЦИЯ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502920" y="67680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Рогалик, в который интересно и играть всем</a:t>
            </a:r>
            <a:endParaRPr lang="ru-RU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502920" y="1600200"/>
            <a:ext cx="104238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Каждый забег — спуск по процедурным этажам с нарастающим давлением: враги усиливаются с каждой главой, а сила героя — в том, что он успеет собрать из предметов. Всё заработанное остаётся в мета-прогрессе: очки, вещи, главы.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>
            <a:off x="502920" y="3246120"/>
            <a:ext cx="258984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502920" y="3474720"/>
            <a:ext cx="2589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ru-RU" sz="6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502920" y="4983480"/>
            <a:ext cx="2589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класса героев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с деревьями умений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3367080" y="3246120"/>
            <a:ext cx="259020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3367440" y="3474720"/>
            <a:ext cx="2589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10</a:t>
            </a:r>
            <a:endParaRPr lang="ru-RU" sz="6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3367440" y="4983480"/>
            <a:ext cx="2589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этажей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в полном прохождении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6231600" y="3246120"/>
            <a:ext cx="258984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6231600" y="3474720"/>
            <a:ext cx="2589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29</a:t>
            </a:r>
            <a:endParaRPr lang="ru-RU" sz="6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6231600" y="4983480"/>
            <a:ext cx="2589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видов врагов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и 6 боссов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3"/>
          <p:cNvSpPr/>
          <p:nvPr/>
        </p:nvSpPr>
        <p:spPr>
          <a:xfrm>
            <a:off x="9095760" y="3246120"/>
            <a:ext cx="259020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9096120" y="3474720"/>
            <a:ext cx="2589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0" b="1" u="none" strike="noStrike">
                <a:solidFill>
                  <a:srgbClr val="E25822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ru-RU" sz="6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9096120" y="4983480"/>
            <a:ext cx="2589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игрока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на одном экране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502920" y="612648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Жанровые соседи: Soul Knight, Enter the Gungeon, Hammerwatch — но с локальным коопом без сети.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11365920" y="63824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502920" y="38412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300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ИГРОВОЙ ЦИКЛ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502920" y="67680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Забег живёт 15–40 минут — прогресс навсегда</a:t>
            </a:r>
            <a:endParaRPr lang="ru-RU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502920" y="2011680"/>
            <a:ext cx="2011320" cy="2285640"/>
          </a:xfrm>
          <a:prstGeom prst="roundRect">
            <a:avLst>
              <a:gd name="adj" fmla="val 3182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667440" y="214884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667440" y="2880360"/>
            <a:ext cx="1682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50" b="1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ЛОББИ</a:t>
            </a:r>
            <a:endParaRPr lang="ru-RU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герой, вещи из сундука, апгрейды за очки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6"/>
          <p:cNvSpPr/>
          <p:nvPr/>
        </p:nvSpPr>
        <p:spPr>
          <a:xfrm>
            <a:off x="2359080" y="2889360"/>
            <a:ext cx="3654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7"/>
          <p:cNvSpPr/>
          <p:nvPr/>
        </p:nvSpPr>
        <p:spPr>
          <a:xfrm>
            <a:off x="2752200" y="2011680"/>
            <a:ext cx="2011320" cy="2285640"/>
          </a:xfrm>
          <a:prstGeom prst="roundRect">
            <a:avLst>
              <a:gd name="adj" fmla="val 3182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8"/>
          <p:cNvSpPr/>
          <p:nvPr/>
        </p:nvSpPr>
        <p:spPr>
          <a:xfrm>
            <a:off x="2917080" y="214884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9"/>
          <p:cNvSpPr/>
          <p:nvPr/>
        </p:nvSpPr>
        <p:spPr>
          <a:xfrm>
            <a:off x="2917080" y="2880360"/>
            <a:ext cx="1682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50" b="1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СПУСК</a:t>
            </a:r>
            <a:endParaRPr lang="ru-RU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этажи главы в тумане войны, квесты NPC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0"/>
          <p:cNvSpPr/>
          <p:nvPr/>
        </p:nvSpPr>
        <p:spPr>
          <a:xfrm>
            <a:off x="4608720" y="2889360"/>
            <a:ext cx="3654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1"/>
          <p:cNvSpPr/>
          <p:nvPr/>
        </p:nvSpPr>
        <p:spPr>
          <a:xfrm>
            <a:off x="5001840" y="2011680"/>
            <a:ext cx="2011320" cy="2285640"/>
          </a:xfrm>
          <a:prstGeom prst="roundRect">
            <a:avLst>
              <a:gd name="adj" fmla="val 3182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2"/>
          <p:cNvSpPr/>
          <p:nvPr/>
        </p:nvSpPr>
        <p:spPr>
          <a:xfrm>
            <a:off x="5166360" y="214884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5166360" y="2880360"/>
            <a:ext cx="1682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50" b="1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БОСС</a:t>
            </a:r>
            <a:endParaRPr lang="ru-RU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его смерть открывает лестницу вниз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4"/>
          <p:cNvSpPr/>
          <p:nvPr/>
        </p:nvSpPr>
        <p:spPr>
          <a:xfrm>
            <a:off x="6858000" y="2889360"/>
            <a:ext cx="3654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5"/>
          <p:cNvSpPr/>
          <p:nvPr/>
        </p:nvSpPr>
        <p:spPr>
          <a:xfrm>
            <a:off x="7251120" y="2011680"/>
            <a:ext cx="2011320" cy="2285640"/>
          </a:xfrm>
          <a:prstGeom prst="roundRect">
            <a:avLst>
              <a:gd name="adj" fmla="val 3182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7415640" y="214884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7"/>
          <p:cNvSpPr/>
          <p:nvPr/>
        </p:nvSpPr>
        <p:spPr>
          <a:xfrm>
            <a:off x="7415640" y="2880360"/>
            <a:ext cx="1682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50" b="1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ОЧКИ</a:t>
            </a:r>
            <a:endParaRPr lang="ru-RU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опыт убийств и золото → мета-очки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8"/>
          <p:cNvSpPr/>
          <p:nvPr/>
        </p:nvSpPr>
        <p:spPr>
          <a:xfrm>
            <a:off x="9107280" y="2889360"/>
            <a:ext cx="3654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9"/>
          <p:cNvSpPr/>
          <p:nvPr/>
        </p:nvSpPr>
        <p:spPr>
          <a:xfrm>
            <a:off x="9500760" y="2011680"/>
            <a:ext cx="2011320" cy="2285640"/>
          </a:xfrm>
          <a:prstGeom prst="roundRect">
            <a:avLst>
              <a:gd name="adj" fmla="val 3182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0"/>
          <p:cNvSpPr/>
          <p:nvPr/>
        </p:nvSpPr>
        <p:spPr>
          <a:xfrm>
            <a:off x="9665280" y="214884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5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1"/>
          <p:cNvSpPr/>
          <p:nvPr/>
        </p:nvSpPr>
        <p:spPr>
          <a:xfrm>
            <a:off x="9665280" y="2880360"/>
            <a:ext cx="1682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550" b="1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СОХРАНЕНИЕ</a:t>
            </a:r>
            <a:endParaRPr lang="ru-RU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вещи — в мета-сундук, глава открыта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2"/>
          <p:cNvSpPr/>
          <p:nvPr/>
        </p:nvSpPr>
        <p:spPr>
          <a:xfrm>
            <a:off x="1508760" y="4800600"/>
            <a:ext cx="8997480" cy="360"/>
          </a:xfrm>
          <a:prstGeom prst="line">
            <a:avLst/>
          </a:prstGeom>
          <a:ln w="19050">
            <a:solidFill>
              <a:srgbClr val="CC99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3"/>
          <p:cNvSpPr/>
          <p:nvPr/>
        </p:nvSpPr>
        <p:spPr>
          <a:xfrm>
            <a:off x="502920" y="4983480"/>
            <a:ext cx="1118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Следующий забег сильнее: открытая глава, прокачка, вещи из сундука — враги тоже выросли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4"/>
          <p:cNvSpPr/>
          <p:nvPr/>
        </p:nvSpPr>
        <p:spPr>
          <a:xfrm>
            <a:off x="502920" y="617220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Внутри этажа: комната → бой → сундук/алтарь → лут → дальше. Смерть не откатывает мета-прогресс.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11365920" y="63824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502920" y="38412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300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СТРУКТУРА ЗАБЕГА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502920" y="67680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4 главы — глубина растёт, враги тоже</a:t>
            </a:r>
            <a:endParaRPr lang="ru-RU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0" name="Chart 0"/>
          <p:cNvGraphicFramePr/>
          <p:nvPr/>
        </p:nvGraphicFramePr>
        <p:xfrm>
          <a:off x="502920" y="1691640"/>
          <a:ext cx="5577480" cy="411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1" name="Text 3"/>
          <p:cNvSpPr/>
          <p:nvPr/>
        </p:nvSpPr>
        <p:spPr>
          <a:xfrm>
            <a:off x="502920" y="5989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6537960" y="1691640"/>
            <a:ext cx="5147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Биомы этажей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6537960" y="2240280"/>
            <a:ext cx="514800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6537960" y="2350080"/>
            <a:ext cx="514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Этаж 1   </a:t>
            </a:r>
            <a:r>
              <a:rPr lang="en-US" sz="14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катакомбы — Лидер гоблинов</a:t>
            </a:r>
            <a:endParaRPr lang="ru-R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7"/>
          <p:cNvSpPr/>
          <p:nvPr/>
        </p:nvSpPr>
        <p:spPr>
          <a:xfrm>
            <a:off x="6537960" y="2953440"/>
            <a:ext cx="514800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6537960" y="3063240"/>
            <a:ext cx="514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Этаж 2   </a:t>
            </a:r>
            <a:r>
              <a:rPr lang="en-US" sz="14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«Паучьи пещеры» — Босс-паук</a:t>
            </a:r>
            <a:endParaRPr lang="ru-R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9"/>
          <p:cNvSpPr/>
          <p:nvPr/>
        </p:nvSpPr>
        <p:spPr>
          <a:xfrm>
            <a:off x="6537960" y="3666600"/>
            <a:ext cx="514800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6537960" y="3776400"/>
            <a:ext cx="514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Этаж 3   </a:t>
            </a:r>
            <a:r>
              <a:rPr lang="en-US" sz="14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«Лавовый разлом» — Демон</a:t>
            </a:r>
            <a:endParaRPr lang="ru-R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1"/>
          <p:cNvSpPr/>
          <p:nvPr/>
        </p:nvSpPr>
        <p:spPr>
          <a:xfrm>
            <a:off x="6537960" y="4379760"/>
            <a:ext cx="514800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6537960" y="4489560"/>
            <a:ext cx="514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Этаж 4   </a:t>
            </a:r>
            <a:r>
              <a:rPr lang="en-US" sz="14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«Пустота» — арена финального босса</a:t>
            </a:r>
            <a:endParaRPr lang="ru-R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3"/>
          <p:cNvSpPr/>
          <p:nvPr/>
        </p:nvSpPr>
        <p:spPr>
          <a:xfrm>
            <a:off x="6537960" y="5257800"/>
            <a:ext cx="5147640" cy="1005480"/>
          </a:xfrm>
          <a:prstGeom prst="roundRect">
            <a:avLst>
              <a:gd name="adj" fmla="val 6364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6766560" y="5394960"/>
            <a:ext cx="4690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25822"/>
                </a:solidFill>
                <a:effectLst/>
                <a:uFillTx/>
                <a:latin typeface="Arial"/>
                <a:ea typeface="Arial"/>
              </a:rPr>
              <a:t>Усиление врагов в каждой новой главе.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11365920" y="63824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502920" y="38412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300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ГЕРОИ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502920" y="67680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Четыре класса — четыре стиля игры</a:t>
            </a:r>
            <a:endParaRPr lang="ru-RU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502920" y="1645920"/>
            <a:ext cx="2605680" cy="4068720"/>
          </a:xfrm>
          <a:prstGeom prst="roundRect">
            <a:avLst>
              <a:gd name="adj" fmla="val 2456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0" descr="D:/ZCode/project2/example/build/images/UI/doll/rogue.png"/>
          <p:cNvPicPr/>
          <p:nvPr/>
        </p:nvPicPr>
        <p:blipFill>
          <a:blip r:embed="rId1"/>
          <a:stretch/>
        </p:blipFill>
        <p:spPr>
          <a:xfrm>
            <a:off x="1120320" y="1874520"/>
            <a:ext cx="137124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4"/>
          <p:cNvSpPr/>
          <p:nvPr/>
        </p:nvSpPr>
        <p:spPr>
          <a:xfrm>
            <a:off x="502920" y="402336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Плут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502920" y="443484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Нож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685800" y="477324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Яд, скрытность, удары в спину, веер ножей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7"/>
          <p:cNvSpPr/>
          <p:nvPr/>
        </p:nvSpPr>
        <p:spPr>
          <a:xfrm>
            <a:off x="3355920" y="1645920"/>
            <a:ext cx="2605680" cy="4068720"/>
          </a:xfrm>
          <a:prstGeom prst="roundRect">
            <a:avLst>
              <a:gd name="adj" fmla="val 2456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1" descr="D:/ZCode/project2/example/build/images/UI/doll/sorceress.png"/>
          <p:cNvPicPr/>
          <p:nvPr/>
        </p:nvPicPr>
        <p:blipFill>
          <a:blip r:embed="rId2"/>
          <a:stretch/>
        </p:blipFill>
        <p:spPr>
          <a:xfrm>
            <a:off x="3972960" y="1874520"/>
            <a:ext cx="137124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8"/>
          <p:cNvSpPr/>
          <p:nvPr/>
        </p:nvSpPr>
        <p:spPr>
          <a:xfrm>
            <a:off x="3355920" y="402336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Волшебница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3355920" y="443484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Посох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3538800" y="477324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Огненный шар, мороз, метеорит, телепорт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1"/>
          <p:cNvSpPr/>
          <p:nvPr/>
        </p:nvSpPr>
        <p:spPr>
          <a:xfrm>
            <a:off x="6208920" y="1645920"/>
            <a:ext cx="2605680" cy="4068720"/>
          </a:xfrm>
          <a:prstGeom prst="roundRect">
            <a:avLst>
              <a:gd name="adj" fmla="val 2456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2" descr="D:/ZCode/project2/example/build/images/UI/doll/knight.png"/>
          <p:cNvPicPr/>
          <p:nvPr/>
        </p:nvPicPr>
        <p:blipFill>
          <a:blip r:embed="rId3"/>
          <a:stretch/>
        </p:blipFill>
        <p:spPr>
          <a:xfrm>
            <a:off x="6825960" y="1874520"/>
            <a:ext cx="137124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12"/>
          <p:cNvSpPr/>
          <p:nvPr/>
        </p:nvSpPr>
        <p:spPr>
          <a:xfrm>
            <a:off x="6208920" y="402336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Рыцарь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3"/>
          <p:cNvSpPr/>
          <p:nvPr/>
        </p:nvSpPr>
        <p:spPr>
          <a:xfrm>
            <a:off x="6208920" y="443484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Меч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4"/>
          <p:cNvSpPr/>
          <p:nvPr/>
        </p:nvSpPr>
        <p:spPr>
          <a:xfrm>
            <a:off x="6391800" y="477324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Броня, аура возмездия, воскрешение, казнь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5"/>
          <p:cNvSpPr/>
          <p:nvPr/>
        </p:nvSpPr>
        <p:spPr>
          <a:xfrm>
            <a:off x="9061560" y="1645920"/>
            <a:ext cx="2605680" cy="4068720"/>
          </a:xfrm>
          <a:prstGeom prst="roundRect">
            <a:avLst>
              <a:gd name="adj" fmla="val 2456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3" descr="D:/ZCode/project2/example/build/images/UI/doll/valciria.png"/>
          <p:cNvPicPr/>
          <p:nvPr/>
        </p:nvPicPr>
        <p:blipFill>
          <a:blip r:embed="rId4"/>
          <a:stretch/>
        </p:blipFill>
        <p:spPr>
          <a:xfrm>
            <a:off x="9678960" y="1874520"/>
            <a:ext cx="137124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16"/>
          <p:cNvSpPr/>
          <p:nvPr/>
        </p:nvSpPr>
        <p:spPr>
          <a:xfrm>
            <a:off x="9061560" y="4023360"/>
            <a:ext cx="2605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Валькирия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9061560" y="443484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Копьё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8"/>
          <p:cNvSpPr/>
          <p:nvPr/>
        </p:nvSpPr>
        <p:spPr>
          <a:xfrm>
            <a:off x="9244440" y="477324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Пронзающий рывок, дротики, разгон скорости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9"/>
          <p:cNvSpPr/>
          <p:nvPr/>
        </p:nvSpPr>
        <p:spPr>
          <a:xfrm>
            <a:off x="502920" y="603504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*своё дерево способностей у каждого класса*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11365920" y="63824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502920" y="38412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300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РОЛЕВАЯ СИСТЕМА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502920" y="67680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5 характеристик → 15 вторичных статов</a:t>
            </a:r>
            <a:endParaRPr lang="ru-RU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502920" y="2103120"/>
            <a:ext cx="39315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5 → 15</a:t>
            </a:r>
            <a:endParaRPr lang="ru-RU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502920" y="3749040"/>
            <a:ext cx="37486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За поднятие уровеня герой получает очко характеристик и очко умений, которые тратит на усиление своего персонажа и расширение своей стратегии.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502920" y="5394960"/>
            <a:ext cx="393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6"/>
          <p:cNvSpPr/>
          <p:nvPr/>
        </p:nvSpPr>
        <p:spPr>
          <a:xfrm>
            <a:off x="4846320" y="1783080"/>
            <a:ext cx="683964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4846320" y="192924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Сила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6858000" y="1956960"/>
            <a:ext cx="4827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Атака · Контрудар · Блок</a:t>
            </a:r>
            <a:endParaRPr lang="ru-R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9"/>
          <p:cNvSpPr/>
          <p:nvPr/>
        </p:nvSpPr>
        <p:spPr>
          <a:xfrm>
            <a:off x="4846320" y="2624040"/>
            <a:ext cx="683964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4846320" y="277056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Ловкость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6858000" y="2797920"/>
            <a:ext cx="4827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Крит · Мощь крита · Уклонение</a:t>
            </a:r>
            <a:endParaRPr lang="ru-R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2"/>
          <p:cNvSpPr/>
          <p:nvPr/>
        </p:nvSpPr>
        <p:spPr>
          <a:xfrm>
            <a:off x="4846320" y="3465360"/>
            <a:ext cx="683964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4846320" y="361188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Здоровье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6858000" y="3639240"/>
            <a:ext cx="4827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Жизни · Сопротивление · Выносливость</a:t>
            </a:r>
            <a:endParaRPr lang="ru-R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5"/>
          <p:cNvSpPr/>
          <p:nvPr/>
        </p:nvSpPr>
        <p:spPr>
          <a:xfrm>
            <a:off x="4846320" y="4306680"/>
            <a:ext cx="683964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6"/>
          <p:cNvSpPr/>
          <p:nvPr/>
        </p:nvSpPr>
        <p:spPr>
          <a:xfrm>
            <a:off x="4846320" y="445320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Скорость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7"/>
          <p:cNvSpPr/>
          <p:nvPr/>
        </p:nvSpPr>
        <p:spPr>
          <a:xfrm>
            <a:off x="6858000" y="4480560"/>
            <a:ext cx="4827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Подвижность · Находчивость · Рефлексы</a:t>
            </a:r>
            <a:endParaRPr lang="ru-R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8"/>
          <p:cNvSpPr/>
          <p:nvPr/>
        </p:nvSpPr>
        <p:spPr>
          <a:xfrm>
            <a:off x="4846320" y="5148000"/>
            <a:ext cx="683964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9"/>
          <p:cNvSpPr/>
          <p:nvPr/>
        </p:nvSpPr>
        <p:spPr>
          <a:xfrm>
            <a:off x="4846320" y="529452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Мудрость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0"/>
          <p:cNvSpPr/>
          <p:nvPr/>
        </p:nvSpPr>
        <p:spPr>
          <a:xfrm>
            <a:off x="6858000" y="5321880"/>
            <a:ext cx="4827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Сила воли · Обучаемость · Контрмагия</a:t>
            </a:r>
            <a:endParaRPr lang="ru-R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1"/>
          <p:cNvSpPr/>
          <p:nvPr/>
        </p:nvSpPr>
        <p:spPr>
          <a:xfrm>
            <a:off x="4846320" y="5989320"/>
            <a:ext cx="683964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2"/>
          <p:cNvSpPr/>
          <p:nvPr/>
        </p:nvSpPr>
        <p:spPr>
          <a:xfrm>
            <a:off x="4846320" y="6263640"/>
            <a:ext cx="6839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Плюс броня, ячейки на поясе и прочие дополнительные эффекты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11365920" y="63824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09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502920" y="38412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300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ПРЕДМЕТЫ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502920" y="67680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Билд собирается из вещей, а не из цифр</a:t>
            </a:r>
            <a:endParaRPr lang="ru-RU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502920" y="169164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Лестница редкости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502920" y="2286000"/>
            <a:ext cx="383760" cy="383760"/>
          </a:xfrm>
          <a:prstGeom prst="roundRect">
            <a:avLst>
              <a:gd name="adj" fmla="val 14286"/>
            </a:avLst>
          </a:prstGeom>
          <a:solidFill>
            <a:srgbClr val="B8B8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1069920" y="2240280"/>
            <a:ext cx="5120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Обычный   </a:t>
            </a:r>
            <a:r>
              <a:rPr lang="en-US" sz="13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+ основной стат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502920" y="3035880"/>
            <a:ext cx="383760" cy="383760"/>
          </a:xfrm>
          <a:prstGeom prst="roundRect">
            <a:avLst>
              <a:gd name="adj" fmla="val 14286"/>
            </a:avLst>
          </a:prstGeom>
          <a:solidFill>
            <a:srgbClr val="4D9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1069920" y="2990160"/>
            <a:ext cx="5120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Редкий   </a:t>
            </a:r>
            <a:r>
              <a:rPr lang="en-US" sz="13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+ дополнительный стат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>
            <a:off x="502920" y="3785760"/>
            <a:ext cx="383760" cy="383760"/>
          </a:xfrm>
          <a:prstGeom prst="roundRect">
            <a:avLst>
              <a:gd name="adj" fmla="val 14286"/>
            </a:avLst>
          </a:prstGeom>
          <a:solidFill>
            <a:srgbClr val="B06C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9"/>
          <p:cNvSpPr/>
          <p:nvPr/>
        </p:nvSpPr>
        <p:spPr>
          <a:xfrm>
            <a:off x="1069920" y="3740040"/>
            <a:ext cx="5120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Эпический   </a:t>
            </a:r>
            <a:r>
              <a:rPr lang="en-US" sz="13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+ эффект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502920" y="4535280"/>
            <a:ext cx="383760" cy="383760"/>
          </a:xfrm>
          <a:prstGeom prst="roundRect">
            <a:avLst>
              <a:gd name="adj" fmla="val 14286"/>
            </a:avLst>
          </a:prstGeom>
          <a:solidFill>
            <a:srgbClr val="FFCC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1"/>
          <p:cNvSpPr/>
          <p:nvPr/>
        </p:nvSpPr>
        <p:spPr>
          <a:xfrm>
            <a:off x="1069920" y="4489560"/>
            <a:ext cx="5120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Легендарный   </a:t>
            </a:r>
            <a:r>
              <a:rPr lang="en-US" sz="13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+ бонус сета предметов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502920" y="5285160"/>
            <a:ext cx="383760" cy="383760"/>
          </a:xfrm>
          <a:prstGeom prst="roundRect">
            <a:avLst>
              <a:gd name="adj" fmla="val 14286"/>
            </a:avLst>
          </a:prstGeom>
          <a:solidFill>
            <a:srgbClr val="FF52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3"/>
          <p:cNvSpPr/>
          <p:nvPr/>
        </p:nvSpPr>
        <p:spPr>
          <a:xfrm>
            <a:off x="1069920" y="5239440"/>
            <a:ext cx="5120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Реликвия  </a:t>
            </a:r>
            <a:r>
              <a:rPr lang="en-US" sz="13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 + уникальный эффект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6675120" y="1737360"/>
            <a:ext cx="5010480" cy="968760"/>
          </a:xfrm>
          <a:prstGeom prst="roundRect">
            <a:avLst>
              <a:gd name="adj" fmla="val 6604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6903720" y="1856160"/>
            <a:ext cx="137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13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6"/>
          <p:cNvSpPr/>
          <p:nvPr/>
        </p:nvSpPr>
        <p:spPr>
          <a:xfrm>
            <a:off x="8321040" y="1883520"/>
            <a:ext cx="3135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слотов экипировки: от головы до рук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6675120" y="2853000"/>
            <a:ext cx="5010480" cy="968760"/>
          </a:xfrm>
          <a:prstGeom prst="roundRect">
            <a:avLst>
              <a:gd name="adj" fmla="val 6604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8"/>
          <p:cNvSpPr/>
          <p:nvPr/>
        </p:nvSpPr>
        <p:spPr>
          <a:xfrm>
            <a:off x="6903720" y="2971800"/>
            <a:ext cx="137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9"/>
          <p:cNvSpPr/>
          <p:nvPr/>
        </p:nvSpPr>
        <p:spPr>
          <a:xfrm>
            <a:off x="8321040" y="2999160"/>
            <a:ext cx="3135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сета — бонусы на 2, 4 и 6 предметах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0"/>
          <p:cNvSpPr/>
          <p:nvPr/>
        </p:nvSpPr>
        <p:spPr>
          <a:xfrm>
            <a:off x="6675120" y="3968640"/>
            <a:ext cx="5010480" cy="968760"/>
          </a:xfrm>
          <a:prstGeom prst="roundRect">
            <a:avLst>
              <a:gd name="adj" fmla="val 6604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1"/>
          <p:cNvSpPr/>
          <p:nvPr/>
        </p:nvSpPr>
        <p:spPr>
          <a:xfrm>
            <a:off x="6903720" y="4087440"/>
            <a:ext cx="137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E25822"/>
                </a:solidFill>
                <a:effectLst/>
                <a:uFillTx/>
                <a:latin typeface="Georgia"/>
                <a:ea typeface="Georgia"/>
              </a:rPr>
              <a:t>3→1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2"/>
          <p:cNvSpPr/>
          <p:nvPr/>
        </p:nvSpPr>
        <p:spPr>
          <a:xfrm>
            <a:off x="8321040" y="4114800"/>
            <a:ext cx="3135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алхимия: три предмета — один рангом выше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3"/>
          <p:cNvSpPr/>
          <p:nvPr/>
        </p:nvSpPr>
        <p:spPr>
          <a:xfrm>
            <a:off x="6675120" y="5083920"/>
            <a:ext cx="5010480" cy="968760"/>
          </a:xfrm>
          <a:prstGeom prst="roundRect">
            <a:avLst>
              <a:gd name="adj" fmla="val 6604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4"/>
          <p:cNvSpPr/>
          <p:nvPr/>
        </p:nvSpPr>
        <p:spPr>
          <a:xfrm>
            <a:off x="6903720" y="5203080"/>
            <a:ext cx="137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CC9966"/>
                </a:solidFill>
                <a:effectLst/>
                <a:uFillTx/>
                <a:latin typeface="Georgia"/>
                <a:ea typeface="Georgia"/>
              </a:rPr>
              <a:t>24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5"/>
          <p:cNvSpPr/>
          <p:nvPr/>
        </p:nvSpPr>
        <p:spPr>
          <a:xfrm>
            <a:off x="8321040" y="5230440"/>
            <a:ext cx="3135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ячейки рюкзака + пояс с едой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11365920" y="63824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02920" y="38412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300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МИР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502920" y="67680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Подземелье, которое не стоит на месте</a:t>
            </a:r>
            <a:endParaRPr lang="ru-RU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502920" y="1783080"/>
            <a:ext cx="5120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550" b="1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Процедурная генерация</a:t>
            </a:r>
            <a:endParaRPr lang="ru-RU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до 42 комнат, 4 стиля коридоров, двери, 4 биома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502920" y="2569320"/>
            <a:ext cx="512064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502920" y="2679120"/>
            <a:ext cx="5120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550" b="1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Туман войны</a:t>
            </a:r>
            <a:endParaRPr lang="ru-RU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мир открывается постепенно; мини- и большая карта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6"/>
          <p:cNvSpPr/>
          <p:nvPr/>
        </p:nvSpPr>
        <p:spPr>
          <a:xfrm>
            <a:off x="502920" y="3465360"/>
            <a:ext cx="512064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502920" y="3575160"/>
            <a:ext cx="5120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550" b="1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Честный ИИ</a:t>
            </a:r>
            <a:endParaRPr lang="ru-RU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применение способностей, обход толпой с флангов, бегство при малом ХП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8"/>
          <p:cNvSpPr/>
          <p:nvPr/>
        </p:nvSpPr>
        <p:spPr>
          <a:xfrm>
            <a:off x="502920" y="4361400"/>
            <a:ext cx="512064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502920" y="4471560"/>
            <a:ext cx="5120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550" b="1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21 тип объектов</a:t>
            </a:r>
            <a:endParaRPr lang="ru-RU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сундуки, алтари, статуи, порталы, головоломки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0"/>
          <p:cNvSpPr/>
          <p:nvPr/>
        </p:nvSpPr>
        <p:spPr>
          <a:xfrm>
            <a:off x="502920" y="5257800"/>
            <a:ext cx="512064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502920" y="5367600"/>
            <a:ext cx="5120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550" b="1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3 типа ловушек</a:t>
            </a:r>
            <a:endParaRPr lang="ru-RU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шипы, кислота, огонь — действуют и на врагов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0" descr="D:/ZCode/project2/forWork/v140_dark_263.png"/>
          <p:cNvPicPr/>
          <p:nvPr/>
        </p:nvPicPr>
        <p:blipFill>
          <a:blip r:embed="rId1"/>
          <a:stretch/>
        </p:blipFill>
        <p:spPr>
          <a:xfrm>
            <a:off x="5742360" y="1920240"/>
            <a:ext cx="5943240" cy="2899800"/>
          </a:xfrm>
          <a:prstGeom prst="rect">
            <a:avLst/>
          </a:prstGeom>
          <a:noFill/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40000"/>
              </a:srgbClr>
            </a:outerShdw>
          </a:effectLst>
        </p:spPr>
      </p:pic>
      <p:sp>
        <p:nvSpPr>
          <p:cNvPr id="159" name="Text 12"/>
          <p:cNvSpPr/>
          <p:nvPr/>
        </p:nvSpPr>
        <p:spPr>
          <a:xfrm>
            <a:off x="5742360" y="492984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Реальный кадр кооп-забега: два героя, туман войны, трекер квеста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11365920" y="63824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502920" y="38412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300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МЕТА-ПРОГРЕССИЯ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502920" y="67680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Смерть — это вклад в следующий забег</a:t>
            </a:r>
            <a:endParaRPr lang="ru-RU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502920" y="1783080"/>
            <a:ext cx="2331360" cy="1554120"/>
          </a:xfrm>
          <a:prstGeom prst="roundRect">
            <a:avLst>
              <a:gd name="adj" fmla="val 4118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704160" y="1965960"/>
            <a:ext cx="1928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700" b="1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Очки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опыт убийств + золото за забег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2720520" y="2295000"/>
            <a:ext cx="3654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6"/>
          <p:cNvSpPr/>
          <p:nvPr/>
        </p:nvSpPr>
        <p:spPr>
          <a:xfrm>
            <a:off x="3154680" y="1783080"/>
            <a:ext cx="2331360" cy="1554120"/>
          </a:xfrm>
          <a:prstGeom prst="roundRect">
            <a:avLst>
              <a:gd name="adj" fmla="val 4118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3355920" y="1965960"/>
            <a:ext cx="1928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700" b="1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Апгрейды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7 веток с капами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8"/>
          <p:cNvSpPr/>
          <p:nvPr/>
        </p:nvSpPr>
        <p:spPr>
          <a:xfrm>
            <a:off x="5372280" y="2295000"/>
            <a:ext cx="3654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9"/>
          <p:cNvSpPr/>
          <p:nvPr/>
        </p:nvSpPr>
        <p:spPr>
          <a:xfrm>
            <a:off x="5806440" y="1783080"/>
            <a:ext cx="2331360" cy="1554120"/>
          </a:xfrm>
          <a:prstGeom prst="roundRect">
            <a:avLst>
              <a:gd name="adj" fmla="val 4118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6007680" y="1965960"/>
            <a:ext cx="1928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700" b="1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Сундук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вещи переносятся в забег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1"/>
          <p:cNvSpPr/>
          <p:nvPr/>
        </p:nvSpPr>
        <p:spPr>
          <a:xfrm>
            <a:off x="8024040" y="2295000"/>
            <a:ext cx="3654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2"/>
          <p:cNvSpPr/>
          <p:nvPr/>
        </p:nvSpPr>
        <p:spPr>
          <a:xfrm>
            <a:off x="8458200" y="1783080"/>
            <a:ext cx="2331360" cy="1554120"/>
          </a:xfrm>
          <a:prstGeom prst="roundRect">
            <a:avLst>
              <a:gd name="adj" fmla="val 4118"/>
            </a:avLst>
          </a:prstGeom>
          <a:solidFill>
            <a:srgbClr val="2A211A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8659440" y="1965960"/>
            <a:ext cx="1928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700" b="1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Главы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1 → 2 → 3 → 4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4"/>
          <p:cNvSpPr/>
          <p:nvPr/>
        </p:nvSpPr>
        <p:spPr>
          <a:xfrm>
            <a:off x="502920" y="3794760"/>
            <a:ext cx="23770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u="none" strike="noStrike">
                <a:solidFill>
                  <a:srgbClr val="E25822"/>
                </a:solidFill>
                <a:effectLst/>
                <a:uFillTx/>
                <a:latin typeface="Georgia"/>
                <a:ea typeface="Georgia"/>
              </a:rPr>
              <a:t>72</a:t>
            </a:r>
            <a:endParaRPr lang="ru-RU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5"/>
          <p:cNvSpPr/>
          <p:nvPr/>
        </p:nvSpPr>
        <p:spPr>
          <a:xfrm>
            <a:off x="3063240" y="4069080"/>
            <a:ext cx="3017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ячейки мета-сундука (4 страницы × 18) — вещи ждут следующего забега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6"/>
          <p:cNvSpPr/>
          <p:nvPr/>
        </p:nvSpPr>
        <p:spPr>
          <a:xfrm>
            <a:off x="6309360" y="3840480"/>
            <a:ext cx="537660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7"/>
          <p:cNvSpPr/>
          <p:nvPr/>
        </p:nvSpPr>
        <p:spPr>
          <a:xfrm>
            <a:off x="6309360" y="3922920"/>
            <a:ext cx="3364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Стартовые ключи +1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8"/>
          <p:cNvSpPr/>
          <p:nvPr/>
        </p:nvSpPr>
        <p:spPr>
          <a:xfrm>
            <a:off x="9674280" y="39229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от 60 очков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9"/>
          <p:cNvSpPr/>
          <p:nvPr/>
        </p:nvSpPr>
        <p:spPr>
          <a:xfrm>
            <a:off x="6309360" y="4443840"/>
            <a:ext cx="537660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0"/>
          <p:cNvSpPr/>
          <p:nvPr/>
        </p:nvSpPr>
        <p:spPr>
          <a:xfrm>
            <a:off x="6309360" y="4526280"/>
            <a:ext cx="3364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Начальное ХП +1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1"/>
          <p:cNvSpPr/>
          <p:nvPr/>
        </p:nvSpPr>
        <p:spPr>
          <a:xfrm>
            <a:off x="9674280" y="45262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от 80 очков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2"/>
          <p:cNvSpPr/>
          <p:nvPr/>
        </p:nvSpPr>
        <p:spPr>
          <a:xfrm>
            <a:off x="6309360" y="5047200"/>
            <a:ext cx="537660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3"/>
          <p:cNvSpPr/>
          <p:nvPr/>
        </p:nvSpPr>
        <p:spPr>
          <a:xfrm>
            <a:off x="6309360" y="5129640"/>
            <a:ext cx="3364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Идентификация легенд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4"/>
          <p:cNvSpPr/>
          <p:nvPr/>
        </p:nvSpPr>
        <p:spPr>
          <a:xfrm>
            <a:off x="9674280" y="512964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от 100 очков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5"/>
          <p:cNvSpPr/>
          <p:nvPr/>
        </p:nvSpPr>
        <p:spPr>
          <a:xfrm>
            <a:off x="6309360" y="5650920"/>
            <a:ext cx="5376600" cy="360"/>
          </a:xfrm>
          <a:prstGeom prst="line">
            <a:avLst/>
          </a:prstGeom>
          <a:ln w="12700">
            <a:solidFill>
              <a:srgbClr val="4A3B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6"/>
          <p:cNvSpPr/>
          <p:nvPr/>
        </p:nvSpPr>
        <p:spPr>
          <a:xfrm>
            <a:off x="6309360" y="5733360"/>
            <a:ext cx="3364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Продажа вещей сундука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7"/>
          <p:cNvSpPr/>
          <p:nvPr/>
        </p:nvSpPr>
        <p:spPr>
          <a:xfrm>
            <a:off x="9674280" y="573336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5…1000 очков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8"/>
          <p:cNvSpPr/>
          <p:nvPr/>
        </p:nvSpPr>
        <p:spPr>
          <a:xfrm>
            <a:off x="502920" y="6263640"/>
            <a:ext cx="1118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Библиотека: бестиарий 21 вида, картотека объектов, 8 достижений — профиль собирается целиком.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11365920" y="63824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502920" y="38412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300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КООПЕРАТИВ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"/>
          <p:cNvSpPr/>
          <p:nvPr/>
        </p:nvSpPr>
        <p:spPr>
          <a:xfrm>
            <a:off x="502920" y="676800"/>
            <a:ext cx="11182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Второй игрок садится за 10 секунд</a:t>
            </a:r>
            <a:endParaRPr lang="ru-RU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502920" y="1828800"/>
            <a:ext cx="3657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E25822"/>
                </a:solidFill>
                <a:effectLst/>
                <a:uFillTx/>
                <a:latin typeface="Georgia"/>
                <a:ea typeface="Georgia"/>
              </a:rPr>
              <a:t>2 игрока</a:t>
            </a:r>
            <a:br>
              <a:rPr sz="5400"/>
            </a:br>
            <a:r>
              <a:rPr lang="en-US" sz="5400" b="1" u="none" strike="noStrike">
                <a:solidFill>
                  <a:srgbClr val="E25822"/>
                </a:solidFill>
                <a:effectLst/>
                <a:uFillTx/>
                <a:latin typeface="Georgia"/>
                <a:ea typeface="Georgia"/>
              </a:rPr>
              <a:t>=</a:t>
            </a:r>
            <a:endParaRPr lang="ru-RU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E25822"/>
                </a:solidFill>
                <a:effectLst/>
                <a:uFillTx/>
                <a:latin typeface="Georgia"/>
                <a:ea typeface="Georgia"/>
              </a:rPr>
              <a:t>1 экран</a:t>
            </a:r>
            <a:endParaRPr lang="ru-RU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4343400" y="1011240"/>
            <a:ext cx="310860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1199"/>
              </a:spcAft>
              <a:buClr>
                <a:srgbClr val="F2E8DC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WASD + стрелки — или два геймпада; полное переназначение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199"/>
              </a:spcAft>
              <a:buClr>
                <a:srgbClr val="F2E8DC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У каждого своя прокачка, инвентарь и панели; мета раздельная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199"/>
              </a:spcAft>
              <a:buClr>
                <a:srgbClr val="F2E8DC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Общая камера с автозумом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199"/>
              </a:spcAft>
              <a:buClr>
                <a:srgbClr val="F2E8DC"/>
              </a:buClr>
              <a:buFont typeface="Wingdings 3" charset="2"/>
              <a:buChar char=""/>
            </a:pPr>
            <a:r>
              <a:rPr lang="en-US" sz="1300" b="0" u="none" strike="noStrike">
                <a:solidFill>
                  <a:srgbClr val="F2E8DC"/>
                </a:solidFill>
                <a:effectLst/>
                <a:uFillTx/>
                <a:latin typeface="Arial"/>
                <a:ea typeface="Arial"/>
              </a:rPr>
              <a:t>Сейвы соло и кооп раздельные; файл сохранения переключает режим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4" name="Image 0" descr="D:/ZCode/project2/forWork/v141_final.png"/>
          <p:cNvPicPr/>
          <p:nvPr/>
        </p:nvPicPr>
        <p:blipFill>
          <a:blip r:embed="rId1"/>
          <a:stretch/>
        </p:blipFill>
        <p:spPr>
          <a:xfrm>
            <a:off x="7754040" y="1828800"/>
            <a:ext cx="3931560" cy="1918080"/>
          </a:xfrm>
          <a:prstGeom prst="rect">
            <a:avLst/>
          </a:prstGeom>
          <a:noFill/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40000"/>
              </a:srgbClr>
            </a:outerShdw>
          </a:effectLst>
        </p:spPr>
      </p:pic>
      <p:sp>
        <p:nvSpPr>
          <p:cNvPr id="195" name="Text 5"/>
          <p:cNvSpPr/>
          <p:nvPr/>
        </p:nvSpPr>
        <p:spPr>
          <a:xfrm>
            <a:off x="7754040" y="385704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Лобби-таверна: выбор героя, сундук, прокачка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140E0A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"/>
          <p:cNvSpPr/>
          <p:nvPr/>
        </p:nvSpPr>
        <p:spPr>
          <a:xfrm>
            <a:off x="1371600" y="2377440"/>
            <a:ext cx="944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0" i="1" u="none" strike="noStrike">
                <a:solidFill>
                  <a:srgbClr val="F2E8DC"/>
                </a:solidFill>
                <a:effectLst/>
                <a:uFillTx/>
                <a:latin typeface="Georgia"/>
                <a:ea typeface="Georgia"/>
              </a:rPr>
              <a:t>Найди. Стань сильнее. Пройди дальше.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"/>
          <p:cNvSpPr/>
          <p:nvPr/>
        </p:nvSpPr>
        <p:spPr>
          <a:xfrm>
            <a:off x="1371600" y="3429000"/>
            <a:ext cx="944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C9966"/>
                </a:solidFill>
                <a:effectLst/>
                <a:uFillTx/>
                <a:latin typeface="Arial"/>
                <a:ea typeface="Arial"/>
              </a:rPr>
              <a:t>«ПОГРУЖЕНИЕ»  ·  билд 2.17  ·  1–2 игрока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"/>
          <p:cNvSpPr/>
          <p:nvPr/>
        </p:nvSpPr>
        <p:spPr>
          <a:xfrm>
            <a:off x="1371600" y="4480560"/>
            <a:ext cx="944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08D77"/>
                </a:solidFill>
                <a:effectLst/>
                <a:uFillTx/>
                <a:latin typeface="Arial"/>
                <a:ea typeface="Arial"/>
              </a:rPr>
              <a:t>https://elcar.itch.io/immersion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LibreOffice/26.8.0.3$Windows_X86_64 LibreOffice_project/bce0998afefdbc355585ca324285661a2170ba77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2026-09-24T04:02:35Z</dcterms:created>
  <dc:creator>elcar</dc:creator>
  <dc:description/>
  <dc:language>ru-RU</dc:language>
  <cp:lastModifiedBy/>
  <dcterms:modified xsi:type="dcterms:W3CDTF">2026-09-24T08:51:40Z</dcterms:modified>
  <cp:revision>27</cp:revision>
  <dc:subject>PptxGenJS Presentation</dc:subject>
  <dc:title>Погружение (Immersion) — презентация игры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